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 Python tool that watches this computer's network interface in real time and raises alerts when traffic is high.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four boxes left to right, top to bottom: problem, solution, technology, outcome.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Bandwidth is the maximum capacity; throughput is what is actually flowing. Our tool measures throughput of this computer.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Problems on the left motivate the objectives on the 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flows left to right. Each box maps to a Python module. Be clear that only this computer's interface is measured.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needed is free; psutil is the only external package.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four steps, then the formula. Stress that counters only grow, so we use differences.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how raw counters are read and turned into speeds. These are real excerpts from the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alert decision. Right: the main loop and safe Ctrl+C handling.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clearly that the left screen is an illustrative sample of the real layout. The values are examples, not measurements.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honest: say which tests were run in the Linux sandbox and which still need to be run on the Mac. Replace the last row after you test on your MacBook.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Limitations are a strength when explained honestly; mention SNMP as the way to see the whole network.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 in three sentences, then mention the future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457200" y="48280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Smart Network Bandwidth Monitoring | Computer Networks Mini Project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accent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822960" y="914400"/>
            <a:ext cx="75895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title" hasCustomPrompt="1"/>
          </p:nvPr>
        </p:nvSpPr>
        <p:spPr>
          <a:xfrm>
            <a:off x="822960" y="914400"/>
            <a:ext cx="7589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Smart Network Bandwidth Monitoring and Alert System</a:t>
            </a:r>
            <a:endParaRPr lang="en-US" sz="3600" dirty="0"/>
          </a:p>
        </p:txBody>
      </p:sp>
      <p:sp>
        <p:nvSpPr>
          <p:cNvPr id="4" name="Subtitle"/>
          <p:cNvSpPr txBox="1"/>
          <p:nvPr/>
        </p:nvSpPr>
        <p:spPr>
          <a:xfrm>
            <a:off x="822960" y="2331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Computer Networks Mini Project</a:t>
            </a:r>
            <a:endParaRPr lang="en-US" sz="2200" dirty="0"/>
          </a:p>
        </p:txBody>
      </p:sp>
      <p:sp>
        <p:nvSpPr>
          <p:cNvPr id="5" name="Student details"/>
          <p:cNvSpPr txBox="1"/>
          <p:nvPr/>
        </p:nvSpPr>
        <p:spPr>
          <a:xfrm>
            <a:off x="822960" y="310896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Student name: [Your Name]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Department: CSE (Computer Science and Engineering)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College name: [Your College Name]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Abstract</a:t>
            </a:r>
            <a:endParaRPr lang="en-US" sz="2600" dirty="0"/>
          </a:p>
        </p:txBody>
      </p:sp>
      <p:sp>
        <p:nvSpPr>
          <p:cNvPr id="4" name="Problem card"/>
          <p:cNvSpPr/>
          <p:nvPr/>
        </p:nvSpPr>
        <p:spPr>
          <a:xfrm>
            <a:off x="457200" y="1051560"/>
            <a:ext cx="4023360" cy="16916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roblem accent"/>
          <p:cNvSpPr/>
          <p:nvPr/>
        </p:nvSpPr>
        <p:spPr>
          <a:xfrm>
            <a:off x="457200" y="1051560"/>
            <a:ext cx="64008" cy="169164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Problem head"/>
          <p:cNvSpPr txBox="1"/>
          <p:nvPr/>
        </p:nvSpPr>
        <p:spPr>
          <a:xfrm>
            <a:off x="640080" y="11247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Problem</a:t>
            </a:r>
            <a:endParaRPr lang="en-US" sz="1400" dirty="0"/>
          </a:p>
        </p:txBody>
      </p:sp>
      <p:sp>
        <p:nvSpPr>
          <p:cNvPr id="7" name="Problem body"/>
          <p:cNvSpPr txBox="1"/>
          <p:nvPr/>
        </p:nvSpPr>
        <p:spPr>
          <a:xfrm>
            <a:off x="640080" y="1463040"/>
            <a:ext cx="3703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Slow networks are hard to explain without numbers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Users cannot see how much traffic their computer sends and receives</a:t>
            </a:r>
            <a:endParaRPr lang="en-US" sz="1400" dirty="0"/>
          </a:p>
        </p:txBody>
      </p:sp>
      <p:sp>
        <p:nvSpPr>
          <p:cNvPr id="8" name="Solution card"/>
          <p:cNvSpPr/>
          <p:nvPr/>
        </p:nvSpPr>
        <p:spPr>
          <a:xfrm>
            <a:off x="4663440" y="1051560"/>
            <a:ext cx="4023360" cy="16916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olution accent"/>
          <p:cNvSpPr/>
          <p:nvPr/>
        </p:nvSpPr>
        <p:spPr>
          <a:xfrm>
            <a:off x="4663440" y="1051560"/>
            <a:ext cx="64008" cy="16916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Solution head"/>
          <p:cNvSpPr txBox="1"/>
          <p:nvPr/>
        </p:nvSpPr>
        <p:spPr>
          <a:xfrm>
            <a:off x="4846320" y="11247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Proposed solution</a:t>
            </a:r>
            <a:endParaRPr lang="en-US" sz="1400" dirty="0"/>
          </a:p>
        </p:txBody>
      </p:sp>
      <p:sp>
        <p:nvSpPr>
          <p:cNvPr id="11" name="Solution body"/>
          <p:cNvSpPr txBox="1"/>
          <p:nvPr/>
        </p:nvSpPr>
        <p:spPr>
          <a:xfrm>
            <a:off x="4846320" y="1463040"/>
            <a:ext cx="3703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Real-time terminal monitor of one network interface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Speeds in KB/s and Mbps with NORMAL / WARNING / CRITICAL alerts</a:t>
            </a:r>
            <a:endParaRPr lang="en-US" sz="1400" dirty="0"/>
          </a:p>
        </p:txBody>
      </p:sp>
      <p:sp>
        <p:nvSpPr>
          <p:cNvPr id="12" name="Tech card"/>
          <p:cNvSpPr/>
          <p:nvPr/>
        </p:nvSpPr>
        <p:spPr>
          <a:xfrm>
            <a:off x="457200" y="2926080"/>
            <a:ext cx="4023360" cy="16916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ch accent"/>
          <p:cNvSpPr/>
          <p:nvPr/>
        </p:nvSpPr>
        <p:spPr>
          <a:xfrm>
            <a:off x="457200" y="2926080"/>
            <a:ext cx="64008" cy="169164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Tech head"/>
          <p:cNvSpPr txBox="1"/>
          <p:nvPr/>
        </p:nvSpPr>
        <p:spPr>
          <a:xfrm>
            <a:off x="640080" y="29992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Technologies</a:t>
            </a:r>
            <a:endParaRPr lang="en-US" sz="1400" dirty="0"/>
          </a:p>
        </p:txBody>
      </p:sp>
      <p:sp>
        <p:nvSpPr>
          <p:cNvPr id="15" name="Tech body"/>
          <p:cNvSpPr txBox="1"/>
          <p:nvPr/>
        </p:nvSpPr>
        <p:spPr>
          <a:xfrm>
            <a:off x="640080" y="3337560"/>
            <a:ext cx="3703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Python 3 and the psutil library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Reads OS byte counters; CSV and text logs</a:t>
            </a:r>
            <a:endParaRPr lang="en-US" sz="1400" dirty="0"/>
          </a:p>
        </p:txBody>
      </p:sp>
      <p:sp>
        <p:nvSpPr>
          <p:cNvPr id="16" name="Outcome card"/>
          <p:cNvSpPr/>
          <p:nvPr/>
        </p:nvSpPr>
        <p:spPr>
          <a:xfrm>
            <a:off x="4663440" y="2926080"/>
            <a:ext cx="4023360" cy="16916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Outcome accent"/>
          <p:cNvSpPr/>
          <p:nvPr/>
        </p:nvSpPr>
        <p:spPr>
          <a:xfrm>
            <a:off x="4663440" y="2926080"/>
            <a:ext cx="64008" cy="169164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Outcome head"/>
          <p:cNvSpPr txBox="1"/>
          <p:nvPr/>
        </p:nvSpPr>
        <p:spPr>
          <a:xfrm>
            <a:off x="4846320" y="29992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Expected outcome</a:t>
            </a:r>
            <a:endParaRPr lang="en-US" sz="1400" dirty="0"/>
          </a:p>
        </p:txBody>
      </p:sp>
      <p:sp>
        <p:nvSpPr>
          <p:cNvPr id="19" name="Outcome body"/>
          <p:cNvSpPr txBox="1"/>
          <p:nvPr/>
        </p:nvSpPr>
        <p:spPr>
          <a:xfrm>
            <a:off x="4846320" y="3337560"/>
            <a:ext cx="3703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Live, timestamped view of local traffic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Threshold alerts that flag possible congestion, plus a saved history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Introduction</a:t>
            </a:r>
            <a:endParaRPr lang="en-US" sz="2600" dirty="0"/>
          </a:p>
        </p:txBody>
      </p:sp>
      <p:sp>
        <p:nvSpPr>
          <p:cNvPr id="4" name="Bandwidth card"/>
          <p:cNvSpPr/>
          <p:nvPr/>
        </p:nvSpPr>
        <p:spPr>
          <a:xfrm>
            <a:off x="457200" y="1051560"/>
            <a:ext cx="4023360" cy="16916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Bandwidth accent"/>
          <p:cNvSpPr/>
          <p:nvPr/>
        </p:nvSpPr>
        <p:spPr>
          <a:xfrm>
            <a:off x="457200" y="1051560"/>
            <a:ext cx="64008" cy="16916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Bandwidth head"/>
          <p:cNvSpPr txBox="1"/>
          <p:nvPr/>
        </p:nvSpPr>
        <p:spPr>
          <a:xfrm>
            <a:off x="640080" y="11247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Bandwidth vs throughput</a:t>
            </a:r>
            <a:endParaRPr lang="en-US" sz="1400" dirty="0"/>
          </a:p>
        </p:txBody>
      </p:sp>
      <p:sp>
        <p:nvSpPr>
          <p:cNvPr id="7" name="Bandwidth body"/>
          <p:cNvSpPr txBox="1"/>
          <p:nvPr/>
        </p:nvSpPr>
        <p:spPr>
          <a:xfrm>
            <a:off x="640080" y="1463040"/>
            <a:ext cx="3703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Bandwidth: maximum data rate of a link (e.g. 100 Mbps)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Throughput: data actually transferred per second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Incoming = download, outgoing = upload</a:t>
            </a:r>
            <a:endParaRPr lang="en-US" sz="1400" dirty="0"/>
          </a:p>
        </p:txBody>
      </p:sp>
      <p:sp>
        <p:nvSpPr>
          <p:cNvPr id="8" name="Why card"/>
          <p:cNvSpPr/>
          <p:nvPr/>
        </p:nvSpPr>
        <p:spPr>
          <a:xfrm>
            <a:off x="4663440" y="1051560"/>
            <a:ext cx="4023360" cy="16916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Why accent"/>
          <p:cNvSpPr/>
          <p:nvPr/>
        </p:nvSpPr>
        <p:spPr>
          <a:xfrm>
            <a:off x="4663440" y="1051560"/>
            <a:ext cx="64008" cy="16916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Why head"/>
          <p:cNvSpPr txBox="1"/>
          <p:nvPr/>
        </p:nvSpPr>
        <p:spPr>
          <a:xfrm>
            <a:off x="4846320" y="11247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Why monitor bandwidth?</a:t>
            </a:r>
            <a:endParaRPr lang="en-US" sz="1400" dirty="0"/>
          </a:p>
        </p:txBody>
      </p:sp>
      <p:sp>
        <p:nvSpPr>
          <p:cNvPr id="11" name="Why body"/>
          <p:cNvSpPr txBox="1"/>
          <p:nvPr/>
        </p:nvSpPr>
        <p:spPr>
          <a:xfrm>
            <a:off x="4846320" y="1463040"/>
            <a:ext cx="3703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Spot congestion and slow connections early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Find unusually heavy usage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Support capacity planning and troubleshooting</a:t>
            </a:r>
            <a:endParaRPr lang="en-US" sz="1400" dirty="0"/>
          </a:p>
        </p:txBody>
      </p:sp>
      <p:sp>
        <p:nvSpPr>
          <p:cNvPr id="12" name="Iface card"/>
          <p:cNvSpPr/>
          <p:nvPr/>
        </p:nvSpPr>
        <p:spPr>
          <a:xfrm>
            <a:off x="457200" y="2926080"/>
            <a:ext cx="4023360" cy="16916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Iface accent"/>
          <p:cNvSpPr/>
          <p:nvPr/>
        </p:nvSpPr>
        <p:spPr>
          <a:xfrm>
            <a:off x="457200" y="2926080"/>
            <a:ext cx="64008" cy="169164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Iface head"/>
          <p:cNvSpPr txBox="1"/>
          <p:nvPr/>
        </p:nvSpPr>
        <p:spPr>
          <a:xfrm>
            <a:off x="640080" y="29992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Network interface</a:t>
            </a:r>
            <a:endParaRPr lang="en-US" sz="1400" dirty="0"/>
          </a:p>
        </p:txBody>
      </p:sp>
      <p:sp>
        <p:nvSpPr>
          <p:cNvPr id="15" name="Iface body"/>
          <p:cNvSpPr txBox="1"/>
          <p:nvPr/>
        </p:nvSpPr>
        <p:spPr>
          <a:xfrm>
            <a:off x="640080" y="3337560"/>
            <a:ext cx="3703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 network interface (e.g. en0 on a Mac) is the connection point to Wi-Fi or Ethernet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OS counts every byte passing through it</a:t>
            </a:r>
            <a:endParaRPr lang="en-US" sz="1400" dirty="0"/>
          </a:p>
        </p:txBody>
      </p:sp>
      <p:sp>
        <p:nvSpPr>
          <p:cNvPr id="16" name="TCPIP card"/>
          <p:cNvSpPr/>
          <p:nvPr/>
        </p:nvSpPr>
        <p:spPr>
          <a:xfrm>
            <a:off x="4663440" y="2926080"/>
            <a:ext cx="4023360" cy="16916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CPIP accent"/>
          <p:cNvSpPr/>
          <p:nvPr/>
        </p:nvSpPr>
        <p:spPr>
          <a:xfrm>
            <a:off x="4663440" y="2926080"/>
            <a:ext cx="64008" cy="169164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TCPIP head"/>
          <p:cNvSpPr txBox="1"/>
          <p:nvPr/>
        </p:nvSpPr>
        <p:spPr>
          <a:xfrm>
            <a:off x="4846320" y="29992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TCP/IP context</a:t>
            </a:r>
            <a:endParaRPr lang="en-US" sz="1400" dirty="0"/>
          </a:p>
        </p:txBody>
      </p:sp>
      <p:sp>
        <p:nvSpPr>
          <p:cNvPr id="19" name="TCPIP body"/>
          <p:cNvSpPr txBox="1"/>
          <p:nvPr/>
        </p:nvSpPr>
        <p:spPr>
          <a:xfrm>
            <a:off x="4846320" y="3337560"/>
            <a:ext cx="3703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Counters include all IP traffic: TCP, UDP, ICMP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We count bytes and packets, not packet contents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Problem Statement and Objectives</a:t>
            </a:r>
            <a:endParaRPr lang="en-US" sz="2600" dirty="0"/>
          </a:p>
        </p:txBody>
      </p:sp>
      <p:sp>
        <p:nvSpPr>
          <p:cNvPr id="4" name="Issues card"/>
          <p:cNvSpPr/>
          <p:nvPr/>
        </p:nvSpPr>
        <p:spPr>
          <a:xfrm>
            <a:off x="457200" y="1051560"/>
            <a:ext cx="4023360" cy="35661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Issues accent"/>
          <p:cNvSpPr/>
          <p:nvPr/>
        </p:nvSpPr>
        <p:spPr>
          <a:xfrm>
            <a:off x="457200" y="1051560"/>
            <a:ext cx="64008" cy="356616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Issues head"/>
          <p:cNvSpPr txBox="1"/>
          <p:nvPr/>
        </p:nvSpPr>
        <p:spPr>
          <a:xfrm>
            <a:off x="640080" y="11247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Network performance issues</a:t>
            </a:r>
            <a:endParaRPr lang="en-US" sz="1400" dirty="0"/>
          </a:p>
        </p:txBody>
      </p:sp>
      <p:sp>
        <p:nvSpPr>
          <p:cNvPr id="7" name="Issues body"/>
          <p:cNvSpPr txBox="1"/>
          <p:nvPr/>
        </p:nvSpPr>
        <p:spPr>
          <a:xfrm>
            <a:off x="640080" y="1463040"/>
            <a:ext cx="3703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Congestion causes delay and slow downloads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Large downloads or streaming can saturate a link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Heavy usage goes unnoticed without measurement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Packet errors or drops hint at link trouble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Raw OS counters are cumulative, not readable speeds</a:t>
            </a:r>
            <a:endParaRPr lang="en-US" sz="1500" dirty="0"/>
          </a:p>
        </p:txBody>
      </p:sp>
      <p:sp>
        <p:nvSpPr>
          <p:cNvPr id="8" name="Objectives card"/>
          <p:cNvSpPr/>
          <p:nvPr/>
        </p:nvSpPr>
        <p:spPr>
          <a:xfrm>
            <a:off x="4663440" y="1051560"/>
            <a:ext cx="4023360" cy="35661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Objectives accent"/>
          <p:cNvSpPr/>
          <p:nvPr/>
        </p:nvSpPr>
        <p:spPr>
          <a:xfrm>
            <a:off x="4663440" y="1051560"/>
            <a:ext cx="64008" cy="356616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Objectives head"/>
          <p:cNvSpPr txBox="1"/>
          <p:nvPr/>
        </p:nvSpPr>
        <p:spPr>
          <a:xfrm>
            <a:off x="4846320" y="11247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Project objectives</a:t>
            </a:r>
            <a:endParaRPr lang="en-US" sz="1400" dirty="0"/>
          </a:p>
        </p:txBody>
      </p:sp>
      <p:sp>
        <p:nvSpPr>
          <p:cNvPr id="11" name="Objectives body"/>
          <p:cNvSpPr txBox="1"/>
          <p:nvPr/>
        </p:nvSpPr>
        <p:spPr>
          <a:xfrm>
            <a:off x="4846320" y="1463040"/>
            <a:ext cx="3703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Detect and select network interfaces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Measure incoming and outgoing traffic live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Compute upload/download speed in KB/s and Mbps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Show total data sent/received and utilisation (only if known)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Raise threshold-based alerts and log them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Stop safely with Ctrl+C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System Architecture</a:t>
            </a:r>
            <a:endParaRPr lang="en-US" sz="2600" dirty="0"/>
          </a:p>
        </p:txBody>
      </p:sp>
      <p:sp>
        <p:nvSpPr>
          <p:cNvPr id="4" name="Arch box 1"/>
          <p:cNvSpPr/>
          <p:nvPr/>
        </p:nvSpPr>
        <p:spPr>
          <a:xfrm>
            <a:off x="457200" y="1143000"/>
            <a:ext cx="1481328" cy="960120"/>
          </a:xfrm>
          <a:prstGeom prst="roundRect">
            <a:avLst>
              <a:gd name="adj" fmla="val 7619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Arch label 1"/>
          <p:cNvSpPr txBox="1"/>
          <p:nvPr/>
        </p:nvSpPr>
        <p:spPr>
          <a:xfrm>
            <a:off x="457200" y="1143000"/>
            <a:ext cx="1481328" cy="960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Network Interface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en0 / eth0</a:t>
            </a:r>
            <a:endParaRPr lang="en-US" sz="1200" dirty="0"/>
          </a:p>
        </p:txBody>
      </p:sp>
      <p:sp>
        <p:nvSpPr>
          <p:cNvPr id="6" name="Arrow 1"/>
          <p:cNvSpPr/>
          <p:nvPr/>
        </p:nvSpPr>
        <p:spPr>
          <a:xfrm>
            <a:off x="1956816" y="1481328"/>
            <a:ext cx="164592" cy="274320"/>
          </a:xfrm>
          <a:prstGeom prst="rightArrow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Arch desc 1"/>
          <p:cNvSpPr txBox="1"/>
          <p:nvPr/>
        </p:nvSpPr>
        <p:spPr>
          <a:xfrm>
            <a:off x="457200" y="2240280"/>
            <a:ext cx="14813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Wi-Fi/Ethernet adapter; the OS keeps cumulative byte and packet counters.</a:t>
            </a:r>
            <a:endParaRPr lang="en-US" sz="1200" dirty="0"/>
          </a:p>
        </p:txBody>
      </p:sp>
      <p:sp>
        <p:nvSpPr>
          <p:cNvPr id="8" name="Arch box 2"/>
          <p:cNvSpPr/>
          <p:nvPr/>
        </p:nvSpPr>
        <p:spPr>
          <a:xfrm>
            <a:off x="2139696" y="1143000"/>
            <a:ext cx="1481328" cy="960120"/>
          </a:xfrm>
          <a:prstGeom prst="roundRect">
            <a:avLst>
              <a:gd name="adj" fmla="val 761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Arch label 2"/>
          <p:cNvSpPr txBox="1"/>
          <p:nvPr/>
        </p:nvSpPr>
        <p:spPr>
          <a:xfrm>
            <a:off x="2139696" y="1143000"/>
            <a:ext cx="1481328" cy="960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Python Monitoring Engine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psutil counters</a:t>
            </a:r>
            <a:endParaRPr lang="en-US" sz="1200" dirty="0"/>
          </a:p>
        </p:txBody>
      </p:sp>
      <p:sp>
        <p:nvSpPr>
          <p:cNvPr id="10" name="Arrow 2"/>
          <p:cNvSpPr/>
          <p:nvPr/>
        </p:nvSpPr>
        <p:spPr>
          <a:xfrm>
            <a:off x="3639312" y="1481328"/>
            <a:ext cx="164592" cy="274320"/>
          </a:xfrm>
          <a:prstGeom prst="rightArrow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Arch desc 2"/>
          <p:cNvSpPr txBox="1"/>
          <p:nvPr/>
        </p:nvSpPr>
        <p:spPr>
          <a:xfrm>
            <a:off x="2139696" y="2240280"/>
            <a:ext cx="14813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main.py reads the counters every interval via src/interfaces.py.</a:t>
            </a:r>
            <a:endParaRPr lang="en-US" sz="1200" dirty="0"/>
          </a:p>
        </p:txBody>
      </p:sp>
      <p:sp>
        <p:nvSpPr>
          <p:cNvPr id="12" name="Arch box 3"/>
          <p:cNvSpPr/>
          <p:nvPr/>
        </p:nvSpPr>
        <p:spPr>
          <a:xfrm>
            <a:off x="3822192" y="1143000"/>
            <a:ext cx="1481328" cy="960120"/>
          </a:xfrm>
          <a:prstGeom prst="roundRect">
            <a:avLst>
              <a:gd name="adj" fmla="val 761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Arch label 3"/>
          <p:cNvSpPr txBox="1"/>
          <p:nvPr/>
        </p:nvSpPr>
        <p:spPr>
          <a:xfrm>
            <a:off x="3822192" y="1143000"/>
            <a:ext cx="1481328" cy="960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Bandwidth Calculation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bytes to speed</a:t>
            </a:r>
            <a:endParaRPr lang="en-US" sz="1200" dirty="0"/>
          </a:p>
        </p:txBody>
      </p:sp>
      <p:sp>
        <p:nvSpPr>
          <p:cNvPr id="14" name="Arrow 3"/>
          <p:cNvSpPr/>
          <p:nvPr/>
        </p:nvSpPr>
        <p:spPr>
          <a:xfrm>
            <a:off x="5321808" y="1481328"/>
            <a:ext cx="164592" cy="274320"/>
          </a:xfrm>
          <a:prstGeom prst="rightArrow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5" name="Arch desc 3"/>
          <p:cNvSpPr txBox="1"/>
          <p:nvPr/>
        </p:nvSpPr>
        <p:spPr>
          <a:xfrm>
            <a:off x="3822192" y="2240280"/>
            <a:ext cx="14813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Speed = byte difference / time difference; converted to KB/s and Mbps.</a:t>
            </a:r>
            <a:endParaRPr lang="en-US" sz="1200" dirty="0"/>
          </a:p>
        </p:txBody>
      </p:sp>
      <p:sp>
        <p:nvSpPr>
          <p:cNvPr id="16" name="Arch box 4"/>
          <p:cNvSpPr/>
          <p:nvPr/>
        </p:nvSpPr>
        <p:spPr>
          <a:xfrm>
            <a:off x="5504688" y="1143000"/>
            <a:ext cx="1481328" cy="960120"/>
          </a:xfrm>
          <a:prstGeom prst="roundRect">
            <a:avLst>
              <a:gd name="adj" fmla="val 7619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Arch label 4"/>
          <p:cNvSpPr txBox="1"/>
          <p:nvPr/>
        </p:nvSpPr>
        <p:spPr>
          <a:xfrm>
            <a:off x="5504688" y="1143000"/>
            <a:ext cx="1481328" cy="960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Threshold / Alert Engine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NORMAL, WARNING, CRITICAL</a:t>
            </a:r>
            <a:endParaRPr lang="en-US" sz="1200" dirty="0"/>
          </a:p>
        </p:txBody>
      </p:sp>
      <p:sp>
        <p:nvSpPr>
          <p:cNvPr id="18" name="Arrow 4"/>
          <p:cNvSpPr/>
          <p:nvPr/>
        </p:nvSpPr>
        <p:spPr>
          <a:xfrm>
            <a:off x="7004304" y="1481328"/>
            <a:ext cx="164592" cy="274320"/>
          </a:xfrm>
          <a:prstGeom prst="rightArrow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9" name="Arch desc 4"/>
          <p:cNvSpPr txBox="1"/>
          <p:nvPr/>
        </p:nvSpPr>
        <p:spPr>
          <a:xfrm>
            <a:off x="5504688" y="2240280"/>
            <a:ext cx="14813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Compares Mbps (and % utilisation if known) with config.json thresholds.</a:t>
            </a:r>
            <a:endParaRPr lang="en-US" sz="1200" dirty="0"/>
          </a:p>
        </p:txBody>
      </p:sp>
      <p:sp>
        <p:nvSpPr>
          <p:cNvPr id="20" name="Arch box 5"/>
          <p:cNvSpPr/>
          <p:nvPr/>
        </p:nvSpPr>
        <p:spPr>
          <a:xfrm>
            <a:off x="7187184" y="1143000"/>
            <a:ext cx="1481328" cy="960120"/>
          </a:xfrm>
          <a:prstGeom prst="roundRect">
            <a:avLst>
              <a:gd name="adj" fmla="val 7619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1" name="Arch label 5"/>
          <p:cNvSpPr txBox="1"/>
          <p:nvPr/>
        </p:nvSpPr>
        <p:spPr>
          <a:xfrm>
            <a:off x="7187184" y="1143000"/>
            <a:ext cx="1481328" cy="960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Terminal Output + Log File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screen, CSV, alerts.log</a:t>
            </a:r>
            <a:endParaRPr lang="en-US" sz="1200" dirty="0"/>
          </a:p>
        </p:txBody>
      </p:sp>
      <p:sp>
        <p:nvSpPr>
          <p:cNvPr id="22" name="Arch desc 5"/>
          <p:cNvSpPr txBox="1"/>
          <p:nvPr/>
        </p:nvSpPr>
        <p:spPr>
          <a:xfrm>
            <a:off x="7187184" y="2240280"/>
            <a:ext cx="14813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Live screen with timestamps; history saved in a CSV file.</a:t>
            </a:r>
            <a:endParaRPr lang="en-US" sz="1200" dirty="0"/>
          </a:p>
        </p:txBody>
      </p:sp>
      <p:sp>
        <p:nvSpPr>
          <p:cNvPr id="23" name="Scope note"/>
          <p:cNvSpPr txBox="1"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Scope: measures traffic of THIS computer's interface only. It cannot list other devices on the router or read packet contents.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System Requirements</a:t>
            </a:r>
            <a:endParaRPr lang="en-US" sz="2600" dirty="0"/>
          </a:p>
        </p:txBody>
      </p:sp>
      <p:sp>
        <p:nvSpPr>
          <p:cNvPr id="4" name="HW card"/>
          <p:cNvSpPr/>
          <p:nvPr/>
        </p:nvSpPr>
        <p:spPr>
          <a:xfrm>
            <a:off x="457200" y="1051560"/>
            <a:ext cx="4023360" cy="16916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HW accent"/>
          <p:cNvSpPr/>
          <p:nvPr/>
        </p:nvSpPr>
        <p:spPr>
          <a:xfrm>
            <a:off x="457200" y="1051560"/>
            <a:ext cx="64008" cy="169164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6" name="HW head"/>
          <p:cNvSpPr txBox="1"/>
          <p:nvPr/>
        </p:nvSpPr>
        <p:spPr>
          <a:xfrm>
            <a:off x="640080" y="11247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Hardware</a:t>
            </a:r>
            <a:endParaRPr lang="en-US" sz="1400" dirty="0"/>
          </a:p>
        </p:txBody>
      </p:sp>
      <p:sp>
        <p:nvSpPr>
          <p:cNvPr id="7" name="HW body"/>
          <p:cNvSpPr txBox="1"/>
          <p:nvPr/>
        </p:nvSpPr>
        <p:spPr>
          <a:xfrm>
            <a:off x="640080" y="1463040"/>
            <a:ext cx="3703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Any laptop/PC with a network adapter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Tested design target: MacBook Air M3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Active Wi-Fi or Ethernet connection</a:t>
            </a:r>
            <a:endParaRPr lang="en-US" sz="1400" dirty="0"/>
          </a:p>
        </p:txBody>
      </p:sp>
      <p:sp>
        <p:nvSpPr>
          <p:cNvPr id="8" name="SW card"/>
          <p:cNvSpPr/>
          <p:nvPr/>
        </p:nvSpPr>
        <p:spPr>
          <a:xfrm>
            <a:off x="4663440" y="1051560"/>
            <a:ext cx="4023360" cy="16916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W accent"/>
          <p:cNvSpPr/>
          <p:nvPr/>
        </p:nvSpPr>
        <p:spPr>
          <a:xfrm>
            <a:off x="4663440" y="1051560"/>
            <a:ext cx="64008" cy="16916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SW head"/>
          <p:cNvSpPr txBox="1"/>
          <p:nvPr/>
        </p:nvSpPr>
        <p:spPr>
          <a:xfrm>
            <a:off x="4846320" y="11247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Software</a:t>
            </a:r>
            <a:endParaRPr lang="en-US" sz="1400" dirty="0"/>
          </a:p>
        </p:txBody>
      </p:sp>
      <p:sp>
        <p:nvSpPr>
          <p:cNvPr id="11" name="SW body"/>
          <p:cNvSpPr txBox="1"/>
          <p:nvPr/>
        </p:nvSpPr>
        <p:spPr>
          <a:xfrm>
            <a:off x="4846320" y="1463040"/>
            <a:ext cx="3703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VS Code and Terminal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Python 3.8 or newer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Internet once, to install psutil</a:t>
            </a:r>
            <a:endParaRPr lang="en-US" sz="1400" dirty="0"/>
          </a:p>
        </p:txBody>
      </p:sp>
      <p:sp>
        <p:nvSpPr>
          <p:cNvPr id="12" name="Lang card"/>
          <p:cNvSpPr/>
          <p:nvPr/>
        </p:nvSpPr>
        <p:spPr>
          <a:xfrm>
            <a:off x="457200" y="2926080"/>
            <a:ext cx="4023360" cy="16916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Lang accent"/>
          <p:cNvSpPr/>
          <p:nvPr/>
        </p:nvSpPr>
        <p:spPr>
          <a:xfrm>
            <a:off x="457200" y="2926080"/>
            <a:ext cx="64008" cy="16916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Lang head"/>
          <p:cNvSpPr txBox="1"/>
          <p:nvPr/>
        </p:nvSpPr>
        <p:spPr>
          <a:xfrm>
            <a:off x="640080" y="29992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Language and libraries</a:t>
            </a:r>
            <a:endParaRPr lang="en-US" sz="1400" dirty="0"/>
          </a:p>
        </p:txBody>
      </p:sp>
      <p:sp>
        <p:nvSpPr>
          <p:cNvPr id="15" name="Lang body"/>
          <p:cNvSpPr txBox="1"/>
          <p:nvPr/>
        </p:nvSpPr>
        <p:spPr>
          <a:xfrm>
            <a:off x="640080" y="3337560"/>
            <a:ext cx="3703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Python 3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psutil (network statistics)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Standard library: argparse, csv, json, time, datetime</a:t>
            </a:r>
            <a:endParaRPr lang="en-US" sz="1400" dirty="0"/>
          </a:p>
        </p:txBody>
      </p:sp>
      <p:sp>
        <p:nvSpPr>
          <p:cNvPr id="16" name="OS card"/>
          <p:cNvSpPr/>
          <p:nvPr/>
        </p:nvSpPr>
        <p:spPr>
          <a:xfrm>
            <a:off x="4663440" y="2926080"/>
            <a:ext cx="4023360" cy="16916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OS accent"/>
          <p:cNvSpPr/>
          <p:nvPr/>
        </p:nvSpPr>
        <p:spPr>
          <a:xfrm>
            <a:off x="4663440" y="2926080"/>
            <a:ext cx="64008" cy="169164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OS head"/>
          <p:cNvSpPr txBox="1"/>
          <p:nvPr/>
        </p:nvSpPr>
        <p:spPr>
          <a:xfrm>
            <a:off x="4846320" y="29992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Supported operating system</a:t>
            </a:r>
            <a:endParaRPr lang="en-US" sz="1400" dirty="0"/>
          </a:p>
        </p:txBody>
      </p:sp>
      <p:sp>
        <p:nvSpPr>
          <p:cNvPr id="19" name="OS body"/>
          <p:cNvSpPr txBox="1"/>
          <p:nvPr/>
        </p:nvSpPr>
        <p:spPr>
          <a:xfrm>
            <a:off x="4846320" y="3337560"/>
            <a:ext cx="3703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macOS (primary target)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Linux and Windows also work, since psutil is cross-platform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Methodology / Working</a:t>
            </a:r>
            <a:endParaRPr lang="en-US" sz="2600" dirty="0"/>
          </a:p>
        </p:txBody>
      </p:sp>
      <p:sp>
        <p:nvSpPr>
          <p:cNvPr id="4" name="Step circle 1"/>
          <p:cNvSpPr/>
          <p:nvPr/>
        </p:nvSpPr>
        <p:spPr>
          <a:xfrm>
            <a:off x="457200" y="11430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Step num 1"/>
          <p:cNvSpPr txBox="1"/>
          <p:nvPr/>
        </p:nvSpPr>
        <p:spPr>
          <a:xfrm>
            <a:off x="45720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Step text 1"/>
          <p:cNvSpPr txBox="1"/>
          <p:nvPr/>
        </p:nvSpPr>
        <p:spPr>
          <a:xfrm>
            <a:off x="1097280" y="105156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Read counters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psutil gives total bytes sent/received since boot for the interface.</a:t>
            </a:r>
            <a:endParaRPr lang="en-US" sz="1400" dirty="0"/>
          </a:p>
        </p:txBody>
      </p:sp>
      <p:sp>
        <p:nvSpPr>
          <p:cNvPr id="7" name="Step circle 2"/>
          <p:cNvSpPr/>
          <p:nvPr/>
        </p:nvSpPr>
        <p:spPr>
          <a:xfrm>
            <a:off x="457200" y="202996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Step num 2"/>
          <p:cNvSpPr txBox="1"/>
          <p:nvPr/>
        </p:nvSpPr>
        <p:spPr>
          <a:xfrm>
            <a:off x="457200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Step text 2"/>
          <p:cNvSpPr txBox="1"/>
          <p:nvPr/>
        </p:nvSpPr>
        <p:spPr>
          <a:xfrm>
            <a:off x="1097280" y="1938528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Wait one interval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Sleep (default 1 s) and read the counters again.</a:t>
            </a:r>
            <a:endParaRPr lang="en-US" sz="1400" dirty="0"/>
          </a:p>
        </p:txBody>
      </p:sp>
      <p:sp>
        <p:nvSpPr>
          <p:cNvPr id="10" name="Step circle 3"/>
          <p:cNvSpPr/>
          <p:nvPr/>
        </p:nvSpPr>
        <p:spPr>
          <a:xfrm>
            <a:off x="457200" y="2916936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Step num 3"/>
          <p:cNvSpPr txBox="1"/>
          <p:nvPr/>
        </p:nvSpPr>
        <p:spPr>
          <a:xfrm>
            <a:off x="457200" y="2916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2" name="Step text 3"/>
          <p:cNvSpPr txBox="1"/>
          <p:nvPr/>
        </p:nvSpPr>
        <p:spPr>
          <a:xfrm>
            <a:off x="1097280" y="2825496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Compute speed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Difference of bytes divided by elapsed time.</a:t>
            </a:r>
            <a:endParaRPr lang="en-US" sz="1400" dirty="0"/>
          </a:p>
        </p:txBody>
      </p:sp>
      <p:sp>
        <p:nvSpPr>
          <p:cNvPr id="13" name="Step circle 4"/>
          <p:cNvSpPr/>
          <p:nvPr/>
        </p:nvSpPr>
        <p:spPr>
          <a:xfrm>
            <a:off x="457200" y="3803904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Step num 4"/>
          <p:cNvSpPr txBox="1"/>
          <p:nvPr/>
        </p:nvSpPr>
        <p:spPr>
          <a:xfrm>
            <a:off x="457200" y="3803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5" name="Step text 4"/>
          <p:cNvSpPr txBox="1"/>
          <p:nvPr/>
        </p:nvSpPr>
        <p:spPr>
          <a:xfrm>
            <a:off x="1097280" y="3712464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Check thresholds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Compare with limits; log reading; show alert.</a:t>
            </a:r>
            <a:endParaRPr lang="en-US" sz="1400" dirty="0"/>
          </a:p>
        </p:txBody>
      </p:sp>
      <p:sp>
        <p:nvSpPr>
          <p:cNvPr id="16" name="Formulas bg"/>
          <p:cNvSpPr/>
          <p:nvPr/>
        </p:nvSpPr>
        <p:spPr>
          <a:xfrm>
            <a:off x="4663440" y="1051560"/>
            <a:ext cx="4023360" cy="352044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7" name="Formulas label"/>
          <p:cNvSpPr txBox="1"/>
          <p:nvPr/>
        </p:nvSpPr>
        <p:spPr>
          <a:xfrm>
            <a:off x="4800600" y="112471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FORMULAS AND RULES</a:t>
            </a:r>
            <a:endParaRPr lang="en-US" sz="1000" dirty="0"/>
          </a:p>
        </p:txBody>
      </p:sp>
      <p:sp>
        <p:nvSpPr>
          <p:cNvPr id="18" name="Formulas"/>
          <p:cNvSpPr txBox="1"/>
          <p:nvPr/>
        </p:nvSpPr>
        <p:spPr>
          <a:xfrm>
            <a:off x="4800600" y="1399032"/>
            <a:ext cx="3749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speed (B/s) = (bytes_now - bytes_prev)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/ (t_now - t_prev)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KB/s = B/s / 1024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Mbps = B/s * 8 / 1,000,000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utilisation % = max(up, down) Mbps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/ link capacity Mbps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(only if OS reports capacity)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 + down &gt;= warning_mbps  -&gt; WARNING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 + down &gt;= critical_mbps -&gt; CRITICAL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Source Code (1/2): Collection and Speed</a:t>
            </a:r>
            <a:endParaRPr lang="en-US" sz="2600" dirty="0"/>
          </a:p>
        </p:txBody>
      </p:sp>
      <p:sp>
        <p:nvSpPr>
          <p:cNvPr id="4" name="Code collect bg"/>
          <p:cNvSpPr/>
          <p:nvPr/>
        </p:nvSpPr>
        <p:spPr>
          <a:xfrm>
            <a:off x="457200" y="1051560"/>
            <a:ext cx="4023360" cy="356616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Code collect label"/>
          <p:cNvSpPr txBox="1"/>
          <p:nvPr/>
        </p:nvSpPr>
        <p:spPr>
          <a:xfrm>
            <a:off x="594360" y="112471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src/interfaces.py</a:t>
            </a:r>
            <a:endParaRPr lang="en-US" sz="1000" dirty="0"/>
          </a:p>
        </p:txBody>
      </p:sp>
      <p:sp>
        <p:nvSpPr>
          <p:cNvPr id="6" name="Code collect"/>
          <p:cNvSpPr txBox="1"/>
          <p:nvPr/>
        </p:nvSpPr>
        <p:spPr>
          <a:xfrm>
            <a:off x="594360" y="1399032"/>
            <a:ext cx="374904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read_counters(name):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io = psutil.net_io_counters(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pernic=True)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name not in io: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raise InterfaceError(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"no longer available")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 = io[name]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Counters(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c.bytes_sent, c.bytes_recv,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c.packets_sent,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c.packets_recv,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c.errin + c.errout,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c.dropin + c.dropout)</a:t>
            </a:r>
            <a:endParaRPr lang="en-US" sz="1200" dirty="0"/>
          </a:p>
        </p:txBody>
      </p:sp>
      <p:sp>
        <p:nvSpPr>
          <p:cNvPr id="7" name="Code speed bg"/>
          <p:cNvSpPr/>
          <p:nvPr/>
        </p:nvSpPr>
        <p:spPr>
          <a:xfrm>
            <a:off x="4663440" y="1051560"/>
            <a:ext cx="4023360" cy="356616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Code speed label"/>
          <p:cNvSpPr txBox="1"/>
          <p:nvPr/>
        </p:nvSpPr>
        <p:spPr>
          <a:xfrm>
            <a:off x="4800600" y="112471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src/calculator.py</a:t>
            </a:r>
            <a:endParaRPr lang="en-US" sz="1000" dirty="0"/>
          </a:p>
        </p:txBody>
      </p:sp>
      <p:sp>
        <p:nvSpPr>
          <p:cNvPr id="9" name="Code speed"/>
          <p:cNvSpPr txBox="1"/>
          <p:nvPr/>
        </p:nvSpPr>
        <p:spPr>
          <a:xfrm>
            <a:off x="4800600" y="1399032"/>
            <a:ext cx="374904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compute_rate(prev, curr, elapsed):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elapsed &lt;= 0 or curr &lt; prev: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0.0  # reset / bad gap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(curr - prev) / elapsed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bytes_to_kbps(bps):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bps / 1024.0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bytes_to_mbps(bps):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bps * 8 / 1_000_000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Source Code (2/2): Alerts and Main Loop</a:t>
            </a:r>
            <a:endParaRPr lang="en-US" sz="2600" dirty="0"/>
          </a:p>
        </p:txBody>
      </p:sp>
      <p:sp>
        <p:nvSpPr>
          <p:cNvPr id="4" name="Code alert bg"/>
          <p:cNvSpPr/>
          <p:nvPr/>
        </p:nvSpPr>
        <p:spPr>
          <a:xfrm>
            <a:off x="457200" y="1051560"/>
            <a:ext cx="4023360" cy="356616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Code alert label"/>
          <p:cNvSpPr txBox="1"/>
          <p:nvPr/>
        </p:nvSpPr>
        <p:spPr>
          <a:xfrm>
            <a:off x="594360" y="112471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src/calculator.py</a:t>
            </a:r>
            <a:endParaRPr lang="en-US" sz="1000" dirty="0"/>
          </a:p>
        </p:txBody>
      </p:sp>
      <p:sp>
        <p:nvSpPr>
          <p:cNvPr id="6" name="Code alert"/>
          <p:cNvSpPr txBox="1"/>
          <p:nvPr/>
        </p:nvSpPr>
        <p:spPr>
          <a:xfrm>
            <a:off x="594360" y="1399032"/>
            <a:ext cx="374904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classify(up, down, util, cfg):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 = bytes_to_mbps(up + down)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level = NORMAL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total &gt;= cfg.critical_mbps: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level = CRITICAL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elif total &gt;= cfg.warning_mbps: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level = WARNING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if utilisation is known, apply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its thresholds; worse one wins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level</a:t>
            </a:r>
            <a:endParaRPr lang="en-US" sz="1200" dirty="0"/>
          </a:p>
        </p:txBody>
      </p:sp>
      <p:sp>
        <p:nvSpPr>
          <p:cNvPr id="7" name="Code loop bg"/>
          <p:cNvSpPr/>
          <p:nvPr/>
        </p:nvSpPr>
        <p:spPr>
          <a:xfrm>
            <a:off x="4663440" y="1051560"/>
            <a:ext cx="4023360" cy="356616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Code loop label"/>
          <p:cNvSpPr txBox="1"/>
          <p:nvPr/>
        </p:nvSpPr>
        <p:spPr>
          <a:xfrm>
            <a:off x="4800600" y="112471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main.py (simplified)</a:t>
            </a:r>
            <a:endParaRPr lang="en-US" sz="1000" dirty="0"/>
          </a:p>
        </p:txBody>
      </p:sp>
      <p:sp>
        <p:nvSpPr>
          <p:cNvPr id="9" name="Code loop"/>
          <p:cNvSpPr txBox="1"/>
          <p:nvPr/>
        </p:nvSpPr>
        <p:spPr>
          <a:xfrm>
            <a:off x="4800600" y="1399032"/>
            <a:ext cx="374904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while True: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time.sleep(cfg.interval_seconds)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curr = read_counters(iface.name)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dt = time.monotonic() - prev_t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up = compute_rate(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prev.bytes_sent,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curr.bytes_sent, dt)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status = classify(up, down,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util, cfg)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logger.log_reading(...)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prev = curr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 KeyboardInterrupt: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pass  # Ctrl+C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finally: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logger.close()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Output</a:t>
            </a:r>
            <a:endParaRPr lang="en-US" sz="2600" dirty="0"/>
          </a:p>
        </p:txBody>
      </p:sp>
      <p:sp>
        <p:nvSpPr>
          <p:cNvPr id="4" name="Terminal bg"/>
          <p:cNvSpPr/>
          <p:nvPr/>
        </p:nvSpPr>
        <p:spPr>
          <a:xfrm>
            <a:off x="457200" y="1005840"/>
            <a:ext cx="5212080" cy="333756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Terminal text"/>
          <p:cNvSpPr txBox="1"/>
          <p:nvPr/>
        </p:nvSpPr>
        <p:spPr>
          <a:xfrm>
            <a:off x="594360" y="1097280"/>
            <a:ext cx="498348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Network Interface : en0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 Address        : 192.168.1.5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Link Capacity     : Unavailable (not reported by OS)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---------------- NETWORK STATISTICS ------------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Upload Speed      : 35.20 KB/s (0.288 Mbps)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Download Speed    : 1210.45 KB/s (9.916 Mbps)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Data Sent   : 4.12 MB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Data Received: 86.30 MB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Bandwidth Usage   : Unavailable (no link speed)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 Status      : WARNING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------------------------------------------------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[2026-10-11 13:46:15] Network traffic is normal.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[2026-10-11 13:46:16] WARNING: High bandwidth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usage detected!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Monitoring continues... Press CTRL+C to stop.</a:t>
            </a:r>
            <a:endParaRPr lang="en-US" sz="1100" dirty="0"/>
          </a:p>
        </p:txBody>
      </p:sp>
      <p:sp>
        <p:nvSpPr>
          <p:cNvPr id="6" name="Illustrative label"/>
          <p:cNvSpPr txBox="1"/>
          <p:nvPr/>
        </p:nvSpPr>
        <p:spPr>
          <a:xfrm>
            <a:off x="457200" y="43891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3"/>
                </a:solidFill>
              </a:rPr>
              <a:t>ILLUSTRATIVE sample of the real layout; values are examples, not test results.</a:t>
            </a:r>
            <a:endParaRPr lang="en-US" sz="1000" dirty="0"/>
          </a:p>
        </p:txBody>
      </p:sp>
      <p:sp>
        <p:nvSpPr>
          <p:cNvPr id="7" name="NORMAL box"/>
          <p:cNvSpPr/>
          <p:nvPr/>
        </p:nvSpPr>
        <p:spPr>
          <a:xfrm>
            <a:off x="5943600" y="1005840"/>
            <a:ext cx="2743200" cy="1005840"/>
          </a:xfrm>
          <a:prstGeom prst="rect">
            <a:avLst/>
          </a:prstGeom>
          <a:solidFill>
            <a:schemeClr val="bg2"/>
          </a:solidFill>
          <a:ln w="25400">
            <a:solidFill>
              <a:schemeClr val="accent4"/>
            </a:solidFill>
            <a:prstDash val="solid"/>
          </a:ln>
        </p:spPr>
      </p:sp>
      <p:sp>
        <p:nvSpPr>
          <p:cNvPr id="8" name="NORMAL text"/>
          <p:cNvSpPr txBox="1"/>
          <p:nvPr/>
        </p:nvSpPr>
        <p:spPr>
          <a:xfrm>
            <a:off x="6035040" y="100584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NORMAL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Network traffic is normal.</a:t>
            </a:r>
            <a:endParaRPr lang="en-US" sz="1500" dirty="0"/>
          </a:p>
        </p:txBody>
      </p:sp>
      <p:sp>
        <p:nvSpPr>
          <p:cNvPr id="9" name="WARNING box"/>
          <p:cNvSpPr/>
          <p:nvPr/>
        </p:nvSpPr>
        <p:spPr>
          <a:xfrm>
            <a:off x="5943600" y="2148840"/>
            <a:ext cx="2743200" cy="1005840"/>
          </a:xfrm>
          <a:prstGeom prst="rect">
            <a:avLst/>
          </a:prstGeom>
          <a:solidFill>
            <a:schemeClr val="bg2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10" name="WARNING text"/>
          <p:cNvSpPr txBox="1"/>
          <p:nvPr/>
        </p:nvSpPr>
        <p:spPr>
          <a:xfrm>
            <a:off x="6035040" y="214884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WARNING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WARNING: High bandwidth usage detected!</a:t>
            </a:r>
            <a:endParaRPr lang="en-US" sz="1500" dirty="0"/>
          </a:p>
        </p:txBody>
      </p:sp>
      <p:sp>
        <p:nvSpPr>
          <p:cNvPr id="11" name="CRITICAL box"/>
          <p:cNvSpPr/>
          <p:nvPr/>
        </p:nvSpPr>
        <p:spPr>
          <a:xfrm>
            <a:off x="5943600" y="3291840"/>
            <a:ext cx="2743200" cy="1005840"/>
          </a:xfrm>
          <a:prstGeom prst="rect">
            <a:avLst/>
          </a:prstGeom>
          <a:solidFill>
            <a:schemeClr val="bg2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12" name="CRITICAL text"/>
          <p:cNvSpPr txBox="1"/>
          <p:nvPr/>
        </p:nvSpPr>
        <p:spPr>
          <a:xfrm>
            <a:off x="6035040" y="329184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CRITICAL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CRITICAL: Very high traffic - possible congestion!</a:t>
            </a:r>
            <a:endParaRPr lang="en-US" sz="1500" dirty="0"/>
          </a:p>
        </p:txBody>
      </p:sp>
      <p:sp>
        <p:nvSpPr>
          <p:cNvPr id="13" name="Limits note"/>
          <p:cNvSpPr txBox="1"/>
          <p:nvPr/>
        </p:nvSpPr>
        <p:spPr>
          <a:xfrm>
            <a:off x="5943600" y="4389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Default limits (up+down): WARNING at 5 Mbps, CRITICAL at 20 Mbps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Testing and Results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011680"/>
                <a:gridCol w="29260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Test case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Expected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Status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Unit tests: speed, units, alert limits, config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All pass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4"/>
                          </a:solidFill>
                        </a:rPr>
                        <a:t>VERIFIED: 13 of 13 passed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Normal traffic (idle interface)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NORMAL, about 0 KB/s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4"/>
                          </a:solidFill>
                        </a:rPr>
                        <a:t>VERIFIED: NORMAL on eth0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High traffic (real loopback transfer, low limits)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WARNING / CRITICAL alert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4"/>
                          </a:solidFill>
                        </a:rPr>
                        <a:t>VERIFIED: CRITICAL, logged. WARNING: unit-tested only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Missing interface (-i nope0)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Clear error, no crash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4"/>
                          </a:solidFill>
                        </a:rPr>
                        <a:t>VERIFIED: error message, exit 1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Ctrl+C shutdown (SIGINT)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Summary, logs closed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4"/>
                          </a:solidFill>
                        </a:rPr>
                        <a:t>VERIFIED: exit code 0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Live run on macOS / M3 (en0)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Works the same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3"/>
                          </a:solidFill>
                        </a:rPr>
                        <a:t>NOT YET TESTED: run on the Mac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st footnote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Verified tests ran in a Linux sandbox, not on macOS.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Advantages and Limitations</a:t>
            </a:r>
            <a:endParaRPr lang="en-US" sz="2600" dirty="0"/>
          </a:p>
        </p:txBody>
      </p:sp>
      <p:sp>
        <p:nvSpPr>
          <p:cNvPr id="4" name="Adv card"/>
          <p:cNvSpPr/>
          <p:nvPr/>
        </p:nvSpPr>
        <p:spPr>
          <a:xfrm>
            <a:off x="457200" y="1051560"/>
            <a:ext cx="2651760" cy="35661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Adv accent"/>
          <p:cNvSpPr/>
          <p:nvPr/>
        </p:nvSpPr>
        <p:spPr>
          <a:xfrm>
            <a:off x="457200" y="1051560"/>
            <a:ext cx="64008" cy="356616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Adv head"/>
          <p:cNvSpPr txBox="1"/>
          <p:nvPr/>
        </p:nvSpPr>
        <p:spPr>
          <a:xfrm>
            <a:off x="640080" y="11247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Advantages</a:t>
            </a:r>
            <a:endParaRPr lang="en-US" sz="1400" dirty="0"/>
          </a:p>
        </p:txBody>
      </p:sp>
      <p:sp>
        <p:nvSpPr>
          <p:cNvPr id="7" name="Adv body"/>
          <p:cNvSpPr txBox="1"/>
          <p:nvPr/>
        </p:nvSpPr>
        <p:spPr>
          <a:xfrm>
            <a:off x="640080" y="1463040"/>
            <a:ext cx="2331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Real OS data, no fake values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Simple Terminal use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Configurable thresholds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CSV and alert logs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Light: one dependency</a:t>
            </a:r>
            <a:endParaRPr lang="en-US" sz="1500" dirty="0"/>
          </a:p>
        </p:txBody>
      </p:sp>
      <p:sp>
        <p:nvSpPr>
          <p:cNvPr id="8" name="Lim card"/>
          <p:cNvSpPr/>
          <p:nvPr/>
        </p:nvSpPr>
        <p:spPr>
          <a:xfrm>
            <a:off x="3246120" y="1051560"/>
            <a:ext cx="2651760" cy="35661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Lim accent"/>
          <p:cNvSpPr/>
          <p:nvPr/>
        </p:nvSpPr>
        <p:spPr>
          <a:xfrm>
            <a:off x="3246120" y="1051560"/>
            <a:ext cx="64008" cy="356616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Lim head"/>
          <p:cNvSpPr txBox="1"/>
          <p:nvPr/>
        </p:nvSpPr>
        <p:spPr>
          <a:xfrm>
            <a:off x="3429000" y="11247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Limitations</a:t>
            </a:r>
            <a:endParaRPr lang="en-US" sz="1400" dirty="0"/>
          </a:p>
        </p:txBody>
      </p:sp>
      <p:sp>
        <p:nvSpPr>
          <p:cNvPr id="11" name="Lim body"/>
          <p:cNvSpPr txBox="1"/>
          <p:nvPr/>
        </p:nvSpPr>
        <p:spPr>
          <a:xfrm>
            <a:off x="3429000" y="1463040"/>
            <a:ext cx="2331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Only this computer's interface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No per-device or per-app view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Packet contents not inspected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Utilisation % needs link speed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Fixed Mbps limits, not learned</a:t>
            </a:r>
            <a:endParaRPr lang="en-US" sz="1500" dirty="0"/>
          </a:p>
        </p:txBody>
      </p:sp>
      <p:sp>
        <p:nvSpPr>
          <p:cNvPr id="12" name="Fut card"/>
          <p:cNvSpPr/>
          <p:nvPr/>
        </p:nvSpPr>
        <p:spPr>
          <a:xfrm>
            <a:off x="6035040" y="1051560"/>
            <a:ext cx="2651760" cy="35661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Fut accent"/>
          <p:cNvSpPr/>
          <p:nvPr/>
        </p:nvSpPr>
        <p:spPr>
          <a:xfrm>
            <a:off x="6035040" y="1051560"/>
            <a:ext cx="64008" cy="35661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Fut head"/>
          <p:cNvSpPr txBox="1"/>
          <p:nvPr/>
        </p:nvSpPr>
        <p:spPr>
          <a:xfrm>
            <a:off x="6217920" y="11247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Future improvements</a:t>
            </a:r>
            <a:endParaRPr lang="en-US" sz="1400" dirty="0"/>
          </a:p>
        </p:txBody>
      </p:sp>
      <p:sp>
        <p:nvSpPr>
          <p:cNvPr id="15" name="Fut body"/>
          <p:cNvSpPr txBox="1"/>
          <p:nvPr/>
        </p:nvSpPr>
        <p:spPr>
          <a:xfrm>
            <a:off x="6217920" y="1463040"/>
            <a:ext cx="2331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Graphical dashboard / live graph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SNMP router monitoring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Anomaly detection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Per-process traffic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Email / desktop notifications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Conclusion</a:t>
            </a:r>
            <a:endParaRPr lang="en-US" sz="2600" dirty="0"/>
          </a:p>
        </p:txBody>
      </p:sp>
      <p:sp>
        <p:nvSpPr>
          <p:cNvPr id="4" name="Summary card"/>
          <p:cNvSpPr/>
          <p:nvPr/>
        </p:nvSpPr>
        <p:spPr>
          <a:xfrm>
            <a:off x="457200" y="1051560"/>
            <a:ext cx="8229600" cy="19202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ummary accent"/>
          <p:cNvSpPr/>
          <p:nvPr/>
        </p:nvSpPr>
        <p:spPr>
          <a:xfrm>
            <a:off x="457200" y="1051560"/>
            <a:ext cx="64008" cy="19202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Summary head"/>
          <p:cNvSpPr txBox="1"/>
          <p:nvPr/>
        </p:nvSpPr>
        <p:spPr>
          <a:xfrm>
            <a:off x="640080" y="112471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What the project achieves</a:t>
            </a:r>
            <a:endParaRPr lang="en-US" sz="1400" dirty="0"/>
          </a:p>
        </p:txBody>
      </p:sp>
      <p:sp>
        <p:nvSpPr>
          <p:cNvPr id="7" name="Summary body"/>
          <p:cNvSpPr txBox="1"/>
          <p:nvPr/>
        </p:nvSpPr>
        <p:spPr>
          <a:xfrm>
            <a:off x="640080" y="1463040"/>
            <a:ext cx="7909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Monitors a network interface by reading real OS byte counters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Calculates upload and download speed from counter differences over time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Generates NORMAL, WARNING and CRITICAL alerts and records timestamped history</a:t>
            </a:r>
            <a:endParaRPr lang="en-US" sz="1400" dirty="0"/>
          </a:p>
        </p:txBody>
      </p:sp>
      <p:sp>
        <p:nvSpPr>
          <p:cNvPr id="8" name="Future chip 1"/>
          <p:cNvSpPr/>
          <p:nvPr/>
        </p:nvSpPr>
        <p:spPr>
          <a:xfrm>
            <a:off x="457200" y="3337560"/>
            <a:ext cx="2560320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Future text 1"/>
          <p:cNvSpPr txBox="1"/>
          <p:nvPr/>
        </p:nvSpPr>
        <p:spPr>
          <a:xfrm>
            <a:off x="457200" y="3337560"/>
            <a:ext cx="25603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Graphical dashboards</a:t>
            </a:r>
            <a:endParaRPr lang="en-US" sz="1400" dirty="0"/>
          </a:p>
        </p:txBody>
      </p:sp>
      <p:sp>
        <p:nvSpPr>
          <p:cNvPr id="10" name="Future chip 2"/>
          <p:cNvSpPr/>
          <p:nvPr/>
        </p:nvSpPr>
        <p:spPr>
          <a:xfrm>
            <a:off x="3291840" y="3337560"/>
            <a:ext cx="2560320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Future text 2"/>
          <p:cNvSpPr txBox="1"/>
          <p:nvPr/>
        </p:nvSpPr>
        <p:spPr>
          <a:xfrm>
            <a:off x="3291840" y="3337560"/>
            <a:ext cx="25603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SNMP-based router monitoring</a:t>
            </a:r>
            <a:endParaRPr lang="en-US" sz="1400" dirty="0"/>
          </a:p>
        </p:txBody>
      </p:sp>
      <p:sp>
        <p:nvSpPr>
          <p:cNvPr id="12" name="Future chip 3"/>
          <p:cNvSpPr/>
          <p:nvPr/>
        </p:nvSpPr>
        <p:spPr>
          <a:xfrm>
            <a:off x="6126480" y="3337560"/>
            <a:ext cx="2560320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Future text 3"/>
          <p:cNvSpPr txBox="1"/>
          <p:nvPr/>
        </p:nvSpPr>
        <p:spPr>
          <a:xfrm>
            <a:off x="6126480" y="3337560"/>
            <a:ext cx="25603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Anomaly detection</a:t>
            </a:r>
            <a:endParaRPr lang="en-US" sz="1400" dirty="0"/>
          </a:p>
        </p:txBody>
      </p:sp>
      <p:sp>
        <p:nvSpPr>
          <p:cNvPr id="14" name="Future label"/>
          <p:cNvSpPr txBox="1"/>
          <p:nvPr/>
        </p:nvSpPr>
        <p:spPr>
          <a:xfrm>
            <a:off x="457200" y="3017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Future extensions</a:t>
            </a:r>
            <a:endParaRPr lang="en-US" sz="1200" dirty="0"/>
          </a:p>
        </p:txBody>
      </p:sp>
      <p:sp>
        <p:nvSpPr>
          <p:cNvPr id="15" name="Closing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Thank you. Questions?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tMonitor">
  <a:themeElements>
    <a:clrScheme name="NetMonitor">
      <a:dk1>
        <a:srgbClr val="1B2430"/>
      </a:dk1>
      <a:lt1>
        <a:srgbClr val="FFFFFF"/>
      </a:lt1>
      <a:dk2>
        <a:srgbClr val="0F3D5E"/>
      </a:dk2>
      <a:lt2>
        <a:srgbClr val="EEF3F8"/>
      </a:lt2>
      <a:accent1>
        <a:srgbClr val="1F7A8C"/>
      </a:accent1>
      <a:accent2>
        <a:srgbClr val="E09F1F"/>
      </a:accent2>
      <a:accent3>
        <a:srgbClr val="D64545"/>
      </a:accent3>
      <a:accent4>
        <a:srgbClr val="2E9E4F"/>
      </a:accent4>
      <a:accent5>
        <a:srgbClr val="5B6C8F"/>
      </a:accent5>
      <a:accent6>
        <a:srgbClr val="0B1F33"/>
      </a:accent6>
      <a:hlink>
        <a:srgbClr val="1F7A8C"/>
      </a:hlink>
      <a:folHlink>
        <a:srgbClr val="5B6C8F"/>
      </a:folHlink>
    </a:clrScheme>
    <a:fontScheme name="NetMonitor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Network Bandwidth Monitoring and Alert System</dc:title>
  <dc:subject>PptxGenJS Presentation</dc:subject>
  <dc:creator>PptxGenJS</dc:creator>
  <cp:lastModifiedBy>PptxGenJS</cp:lastModifiedBy>
  <cp:revision>1</cp:revision>
  <dcterms:created xsi:type="dcterms:W3CDTF">2026-10-11T13:49:01Z</dcterms:created>
  <dcterms:modified xsi:type="dcterms:W3CDTF">2026-10-11T13:49:01Z</dcterms:modified>
</cp:coreProperties>
</file>